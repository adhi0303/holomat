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9" r:id="rId4"/>
    <p:sldId id="258" r:id="rId5"/>
    <p:sldId id="278" r:id="rId6"/>
    <p:sldId id="259" r:id="rId7"/>
    <p:sldId id="260" r:id="rId8"/>
    <p:sldId id="261" r:id="rId9"/>
    <p:sldId id="281" r:id="rId10"/>
    <p:sldId id="262" r:id="rId11"/>
    <p:sldId id="280" r:id="rId12"/>
    <p:sldId id="263" r:id="rId13"/>
    <p:sldId id="287" r:id="rId14"/>
    <p:sldId id="288" r:id="rId15"/>
    <p:sldId id="264" r:id="rId16"/>
    <p:sldId id="265" r:id="rId17"/>
    <p:sldId id="266" r:id="rId18"/>
    <p:sldId id="267" r:id="rId19"/>
    <p:sldId id="268" r:id="rId20"/>
    <p:sldId id="269" r:id="rId21"/>
    <p:sldId id="271" r:id="rId22"/>
    <p:sldId id="277" r:id="rId23"/>
    <p:sldId id="285" r:id="rId2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1 —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00D4FF"/>
                </a:solidFill>
              </a:rPr>
              <a:t>HOLOMAT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The Intelligent Holographic Workstation of Tomorrow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D700"/>
                </a:solidFill>
              </a:rPr>
              <a:t>"Inspired by Iron Man. Built for the real world."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CC"/>
                </a:solidFill>
              </a:rPr>
              <a:t>A gesture-controlled, AI-powered, sensor-integrated workstation
with real-time 3D holographic visualization.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18872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1 —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Problem with How We Work Today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ABBCC"/>
                </a:solidFill>
              </a:rPr>
              <a:t>Modern workstations are passive, touch-dependent, and one-directional.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7220"/>
            <a:ext cx="6583680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Every workstation requires physical touch — mouse, keyboard, touchscreen</a:t>
            </a:r>
          </a:p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Workspaces don't know who is using them, what lighting conditions exist, or what the user needs</a:t>
            </a:r>
          </a:p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Interaction is one-directional — you command the machine; it never adapts</a:t>
            </a:r>
          </a:p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In industrial, medical &amp; research environments, touch-based interfaces are impractical</a:t>
            </a:r>
          </a:p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Surgeons can't touch screens mid-operation. Engineers in clean rooms can't use keyboards.</a:t>
            </a:r>
          </a:p>
          <a:p>
            <a:pPr>
              <a:spcBef>
                <a:spcPts val="200"/>
              </a:spcBef>
            </a:pPr>
            <a:r>
              <a:rPr b="0" dirty="0">
                <a:solidFill>
                  <a:srgbClr val="FFFFFF"/>
                </a:solidFill>
              </a:rPr>
              <a:t>No affordable, open-source system bridges IoT sensors + AI + gesture interaction in one workstation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5548069"/>
            <a:ext cx="4572000" cy="671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Smart Workstation Market CAGR → 19.8%</a:t>
            </a:r>
          </a:p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74% of industrial workers say touchless interfaces would improve efficiency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B1EA140-5E5B-7839-D80D-2E306ACD67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039" y="1777248"/>
            <a:ext cx="4638729" cy="36542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15D18-E9D9-524F-3A5B-BA92F7911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C98EAA1-0F1B-1D52-B604-A592BF3D3E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50"/>
          <a:stretch>
            <a:fillRect/>
          </a:stretch>
        </p:blipFill>
        <p:spPr>
          <a:xfrm>
            <a:off x="800100" y="475444"/>
            <a:ext cx="10220325" cy="590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38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1 — THE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rgbClr val="00D4FF"/>
                </a:solidFill>
              </a:rPr>
              <a:t>Meet </a:t>
            </a:r>
            <a:r>
              <a:rPr sz="3200" b="1" i="0" dirty="0" err="1">
                <a:solidFill>
                  <a:srgbClr val="00D4FF"/>
                </a:solidFill>
              </a:rPr>
              <a:t>HoloMat</a:t>
            </a:r>
            <a:r>
              <a:rPr sz="3200" b="1" i="0" dirty="0">
                <a:solidFill>
                  <a:srgbClr val="00D4FF"/>
                </a:solidFill>
              </a:rPr>
              <a:t> — The Workstation That Sees, Hears &amp; Responds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073" y="1049998"/>
            <a:ext cx="1124712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ABBCC"/>
                </a:solidFill>
              </a:rPr>
              <a:t>The world's first open-source, IoT-native, AI-powered holographic workstation.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👁  Sees You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PIR motion sensor wakes the system as you approach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🧠  Knows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Face recognition authenticates and loads your profile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✋  Responds to Gestures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Hand gesture tracking controls the UI — completely hands-free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🎤  Understands 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AI voice assistant 'Jarvis' processes natural language commands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💡  Adapts to Environment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Light sensors auto-adjust display and LED brightness dynamically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0916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800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🔮  Visualizes in 3D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16636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holographic projections of data, models, and analytics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1720E7-BEE7-AF1E-DB4F-8291D8EA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DB6C411C-9D14-2763-F24A-82E647522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43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2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How HoloMat Works —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Three-layer design: Hardware → Backend → Frontend.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8229600" cy="685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6479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HARDWARE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76479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Arduino Uno (Sensor Hub)  ←USB→  Raspberry Pi 3B+ (AI Brain)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63347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BACKEND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63347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FastAPI + Python Multiprocessing + Groq AI + WebSocket Server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29000"/>
            <a:ext cx="8229600" cy="68580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502152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</a:rPr>
              <a:t>FRONTEND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502152"/>
            <a:ext cx="5577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React 18 + Three.js (3D) + MediaPipe (Hand Tracking) + WebSocket Client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</a:rPr>
              <a:t>DATA FLOW: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448056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700"/>
                </a:solidFill>
              </a:rPr>
              <a:t>Sensor → Arduino JSON → Pi Backend → WebSocket → React Frontend → User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2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5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What We've Already Built — Software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100% complete. Production-grade. Running live.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856232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React 18 + TypeScript dashboard — eDEX-UI Iron Man aesthetic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6 interactive modes: Home, Scan, 3D Model, Measure, Analytics, Export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Three.js hologram viewer — 4 models, drag/zoom/rotate/fullscreen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MediaPipe AI hand tracking at 60 FPS — live skeleton overlay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Jarvis voice assistant — Groq LLM, waveform animation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FastAPI backend — 10 REST endpoints + WebSocket streaming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Real-time sensor simulation — hardware-ready, swap-in architecture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✅  Multi-format data export: JSON, CSV, XML, PDF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0624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React 18  ·  TypeScript  ·  Three.js  ·  </a:t>
            </a:r>
            <a:r>
              <a:rPr sz="1200" b="0" dirty="0" err="1">
                <a:solidFill>
                  <a:srgbClr val="00D4FF"/>
                </a:solidFill>
              </a:rPr>
              <a:t>MediaPipe</a:t>
            </a:r>
            <a:endParaRPr sz="1200" b="0" dirty="0">
              <a:solidFill>
                <a:srgbClr val="00D4FF"/>
              </a:solidFill>
            </a:endParaRPr>
          </a:p>
          <a:p>
            <a:pPr>
              <a:spcBef>
                <a:spcPts val="200"/>
              </a:spcBef>
            </a:pPr>
            <a:r>
              <a:rPr sz="1200" b="0" dirty="0" err="1">
                <a:solidFill>
                  <a:srgbClr val="00D4FF"/>
                </a:solidFill>
              </a:rPr>
              <a:t>FastAPI</a:t>
            </a:r>
            <a:r>
              <a:rPr sz="1200" b="0" dirty="0">
                <a:solidFill>
                  <a:srgbClr val="00D4FF"/>
                </a:solidFill>
              </a:rPr>
              <a:t>  ·  Python  ·  WebSocket  ·  </a:t>
            </a:r>
            <a:r>
              <a:rPr sz="1200" b="0" dirty="0" err="1">
                <a:solidFill>
                  <a:srgbClr val="00D4FF"/>
                </a:solidFill>
              </a:rPr>
              <a:t>Zustand</a:t>
            </a:r>
            <a:r>
              <a:rPr sz="1200" b="0" dirty="0">
                <a:solidFill>
                  <a:srgbClr val="00D4FF"/>
                </a:solidFill>
              </a:rPr>
              <a:t>  ·  </a:t>
            </a:r>
            <a:r>
              <a:rPr sz="1200" b="0" dirty="0" err="1">
                <a:solidFill>
                  <a:srgbClr val="00D4FF"/>
                </a:solidFill>
              </a:rPr>
              <a:t>Groq</a:t>
            </a:r>
            <a:r>
              <a:rPr sz="1200" b="0" dirty="0">
                <a:solidFill>
                  <a:srgbClr val="00D4FF"/>
                </a:solidFill>
              </a:rPr>
              <a:t> AI</a:t>
            </a:r>
          </a:p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Framer Motion  ·  Recharts  ·  Vite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D51999-DE3F-4B73-C511-9CC9FFA46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84"/>
          <a:stretch>
            <a:fillRect/>
          </a:stretch>
        </p:blipFill>
        <p:spPr>
          <a:xfrm>
            <a:off x="5878326" y="1810512"/>
            <a:ext cx="6130794" cy="34932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2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HoloMat Dashboard — Live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0852" y="832104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 dirty="0">
                <a:solidFill>
                  <a:srgbClr val="AABBCC"/>
                </a:solidFill>
              </a:rPr>
              <a:t>Eight fully functional modes. Real-time data. AI everywhere.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852" y="1271016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44752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🏠  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90195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System dashboard — CPU, RAM, sensors, process 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444752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53619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📷  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90195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3D model scan sequence with animated holographic sweep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53512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📦  3D Model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41071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Interactive hologram — Arc Reactor, Cube, Sphere, Torus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953512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04495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📐  Measure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41071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Real-time distance, temperature, humidity sensor data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62272"/>
            <a:ext cx="5349240" cy="859536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553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📊  Analytics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91947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Performance graphs and historical trends (Recharts)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462272"/>
            <a:ext cx="5486400" cy="886967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5080" y="45537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⚙️ 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4919472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Live sensor configuration with sliders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3547" y="5724142"/>
            <a:ext cx="5513705" cy="768097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70852" y="583386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00D4FF"/>
                </a:solidFill>
              </a:rPr>
              <a:t>📤  Export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" y="619963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Download data as JSON / CSV / XML / 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1508" y="5742431"/>
            <a:ext cx="5513705" cy="9829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6355080" y="5886448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🎤  Jarvis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6179055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</a:rPr>
              <a:t>Voice assistant panel with waveform and AI responses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10CCF-203F-DAE0-8BA2-75E0700E9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10E3F-A145-244B-B71A-5F2B31B940EF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0AC227-5213-418A-1C00-F88988613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3"/>
            <a:ext cx="12188825" cy="685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176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2 —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7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The AI Brain — Intelligent 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Three AI subsystems running simultaneously.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78992" y="182880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COMPUTER VISION — </a:t>
            </a:r>
            <a:r>
              <a:rPr sz="1300" b="0" dirty="0" err="1">
                <a:solidFill>
                  <a:srgbClr val="FFFFFF"/>
                </a:solidFill>
              </a:rPr>
              <a:t>MediaPipe</a:t>
            </a:r>
            <a:r>
              <a:rPr sz="1300" b="0" dirty="0">
                <a:solidFill>
                  <a:srgbClr val="FFFFFF"/>
                </a:solidFill>
              </a:rPr>
              <a:t> Hand Tracking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21-landmark skeleton at 60 FPS in-browser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Scale-invariant gesture classification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Pinch = Click  |  Fist = Grab  |  Two hands = Zoom</a:t>
            </a:r>
          </a:p>
          <a:p>
            <a:pPr>
              <a:spcBef>
                <a:spcPts val="200"/>
              </a:spcBef>
            </a:pPr>
            <a:endParaRPr sz="1300" b="0" dirty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VOICE ASSISTANT — Jarvis (</a:t>
            </a:r>
            <a:r>
              <a:rPr sz="1300" b="0" dirty="0" err="1">
                <a:solidFill>
                  <a:srgbClr val="FFFFFF"/>
                </a:solidFill>
              </a:rPr>
              <a:t>Groq</a:t>
            </a:r>
            <a:r>
              <a:rPr sz="1300" b="0" dirty="0">
                <a:solidFill>
                  <a:srgbClr val="FFFFFF"/>
                </a:solidFill>
              </a:rPr>
              <a:t> AI / </a:t>
            </a:r>
            <a:r>
              <a:rPr sz="1300" b="0" dirty="0" err="1">
                <a:solidFill>
                  <a:srgbClr val="FFFFFF"/>
                </a:solidFill>
              </a:rPr>
              <a:t>LLaMA</a:t>
            </a:r>
            <a:r>
              <a:rPr sz="1300" b="0" dirty="0">
                <a:solidFill>
                  <a:srgbClr val="FFFFFF"/>
                </a:solidFill>
              </a:rPr>
              <a:t>)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Natural speech → LLM → response in &lt; 2 seconds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Mode switching, status queries, system control</a:t>
            </a:r>
          </a:p>
          <a:p>
            <a:pPr>
              <a:spcBef>
                <a:spcPts val="200"/>
              </a:spcBef>
            </a:pPr>
            <a:endParaRPr sz="1300" b="0" dirty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1" dirty="0">
                <a:solidFill>
                  <a:srgbClr val="FFFFFF"/>
                </a:solidFill>
              </a:rPr>
              <a:t>SENSOR INTELLIGENCE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PIR triggers system wake on approach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LDR auto-adjusts brightness dynamically</a:t>
            </a:r>
          </a:p>
          <a:p>
            <a:pPr>
              <a:spcBef>
                <a:spcPts val="200"/>
              </a:spcBef>
            </a:pPr>
            <a:r>
              <a:rPr sz="1300" b="0" dirty="0">
                <a:solidFill>
                  <a:srgbClr val="FFFFFF"/>
                </a:solidFill>
              </a:rPr>
              <a:t>  • OpenCV face recognition (architecture complete)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60 FPS hand tracking  |  &lt; 2s AI response  |  95%+ voice accuracy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966F5-F1A4-3268-476C-C37216F2C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8BCE40-F1A9-167E-C997-3BBD38D9DB98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85B29E-C25D-CAAA-099B-2774BC98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35" y="104311"/>
            <a:ext cx="11850754" cy="664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705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3 — HARDWARE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8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 dirty="0">
                <a:solidFill>
                  <a:srgbClr val="00D4FF"/>
                </a:solidFill>
              </a:rPr>
              <a:t>The Physical System — Hardware Components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Component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Model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Role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Raspberry Pi 3B+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Quad-core ARM @ 1.4GHz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AI Brain / Backend / WiFi Host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Arduino Uno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ATmega328P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Real-time Sensor 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PIR Motion Sensor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HC-SR501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Detects approach (7m range)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Ultrasonic Sensors ×3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HC-SR04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Hand gesture distance mapping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Light Sensor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196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LDR + MCP3008 ADC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Ambient light → auto-brightness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USB Webcam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1080p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100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Face recognition + hand tracking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Mini Projector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5196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720p+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100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Pepper's Ghost hologram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LCD Panels ×2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5196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20×4 I2C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0100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Physical status display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RGB LED Strip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5196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WS2812B (60 LEDs/m)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0100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Reactive ambient lighting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USB Microphone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Any USB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0100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Voice input for Jarvis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12F528-A964-2A31-7F00-300FC77B6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04626C-22D5-0461-D450-6B6D19A6F7F4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D12583-4015-35D6-688B-ECFEF00A73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086"/>
          <a:stretch>
            <a:fillRect/>
          </a:stretch>
        </p:blipFill>
        <p:spPr>
          <a:xfrm>
            <a:off x="2166475" y="890004"/>
            <a:ext cx="7663325" cy="3227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ADBA17-77FB-0A7F-AD65-EEA4D15C7020}"/>
              </a:ext>
            </a:extLst>
          </p:cNvPr>
          <p:cNvSpPr txBox="1"/>
          <p:nvPr/>
        </p:nvSpPr>
        <p:spPr>
          <a:xfrm>
            <a:off x="294894" y="45541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00D4FF"/>
                </a:solidFill>
              </a:rPr>
              <a:t>The Actual important components that are required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AF96E-8CAD-93CE-E800-F60A18E7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257" y="4344498"/>
            <a:ext cx="2608875" cy="21477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FBDF3B8-7D82-F2F7-8A4D-1F61A8A82A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004" t="3581" r="2801"/>
          <a:stretch>
            <a:fillRect/>
          </a:stretch>
        </p:blipFill>
        <p:spPr>
          <a:xfrm>
            <a:off x="4791392" y="4421404"/>
            <a:ext cx="2606040" cy="20708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99EC16-0992-D9C8-00A3-622D9F424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8855" y="4344499"/>
            <a:ext cx="2081145" cy="2147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76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24A4BF-D193-29D2-B9AB-3361978C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047AE22-18AA-9A5C-ED28-DF87B0B3BF80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612AFB-A545-20B5-EC16-57C9FFF74203}"/>
              </a:ext>
            </a:extLst>
          </p:cNvPr>
          <p:cNvSpPr txBox="1"/>
          <p:nvPr/>
        </p:nvSpPr>
        <p:spPr>
          <a:xfrm>
            <a:off x="294894" y="455414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i="0" dirty="0">
                <a:solidFill>
                  <a:srgbClr val="00D4FF"/>
                </a:solidFill>
              </a:rPr>
              <a:t>The Actual important components that are required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88F613F-D21C-E0B7-B36C-3BBCDEACA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382" y="991272"/>
            <a:ext cx="7128473" cy="28906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70DA88-EDE3-FF49-90CA-CA1FCF092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3841" y="4158804"/>
            <a:ext cx="2529814" cy="23334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DA2BAE2-2065-E282-672D-8AD4763E7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548" y="4158804"/>
            <a:ext cx="2609942" cy="233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2421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3 — HARDWARE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9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How the Hologram Works — Pepper's Ghost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A Victorian optical illusion, upgraded with modern projection tech.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STEP 1 — Three.js 3D model renders on black background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        (black = transparent when projected)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STEP 2 — Projector aims image downward onto a 45° acrylic sheet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STEP 3 — Acrylic partially reflects projected image toward viewer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STEP 4 — From user's perspective: model appears to float in mid-air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STEP 5 — Only the glowing model is visible — background is invisible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RESULT — A floating, interactive, rotating 3D hologram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        No glasses required. No special headset.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9625" y="54406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Same React + Three.js app drives the hologram display.</a:t>
            </a:r>
          </a:p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Works with any mini projector output via HDMI.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8B784BF-1910-ED19-5D4D-2E6A74C8B6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140"/>
          <a:stretch>
            <a:fillRect/>
          </a:stretch>
        </p:blipFill>
        <p:spPr>
          <a:xfrm>
            <a:off x="6094411" y="1828800"/>
            <a:ext cx="5590181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3 — HARDWARE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10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Hardware Integration — Arduino ↔ Raspberry Pi Bridge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Why two boards? Separation of real-time GPIO from AI networking.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65836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ARDUINO — Real-time sensor hub: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Reads PIR, Ultrasonic, LDR every 100ms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Sends JSON via USB Serial at 115200 baud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Drives I2C LCD display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RASPBERRY PI — AI + Backend server: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Reads Arduino serial → injects into FastAPI cache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Runs face recognition (OpenCV)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Serves WebSocket to frontend on WiFi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• Handles Jarvis voice (Groq API)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PROTOCOL: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{"motion": true, "distance": 42.5, "light": 78}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  Sent every 100ms → Pi parses → WebSocket →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0" y="5641848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 b="0" dirty="0">
                <a:solidFill>
                  <a:srgbClr val="00D4FF"/>
                </a:solidFill>
              </a:rPr>
              <a:t>PIR→D7  |  HC-SR04 TRIG→D9  ECHO→D10  |  LDR→A0  |  LCD SDA/SCL→A4/A5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2DF735-CE09-8F3D-0B48-4F063593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1750" y="1864092"/>
            <a:ext cx="5234010" cy="34681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4 — MARKET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11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A $32 Billion Market — Where HoloMat Fits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HoloMat sits at the intersection of four high-growth markets.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8117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7203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Market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68980" y="1691640"/>
            <a:ext cx="28117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14700" y="1737360"/>
            <a:ext cx="27203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Size (2024)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691640"/>
            <a:ext cx="28117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0" y="1737360"/>
            <a:ext cx="27203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Projected (2030)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92540" y="1691640"/>
            <a:ext cx="281178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38260" y="1737360"/>
            <a:ext cx="27203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CAGR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2139696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Gesture Recognition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8980" y="2103120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14700" y="2139696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$9.5B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2103120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26480" y="2139696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$32.3B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2540" y="2103120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38260" y="2139696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22%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450592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2487168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Smart Workstations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8980" y="2450592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14700" y="2487168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$4.8B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80760" y="2450592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126480" y="2487168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$11.2B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92540" y="2450592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38260" y="2487168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2798064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2834640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AI-Embedded IoT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68980" y="2798064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314700" y="2834640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$26B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80760" y="2798064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26480" y="2834640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$110B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92540" y="2798064"/>
            <a:ext cx="281178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38260" y="2834640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3145536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02920" y="3182112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Holographic Display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8980" y="3145536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314700" y="3182112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$2.1B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80760" y="3145536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126480" y="3182112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$10.8B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92540" y="3145536"/>
            <a:ext cx="281178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938260" y="3182112"/>
            <a:ext cx="27203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31%</a:t>
            </a:r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FEA3E5FE-DA77-2CBE-CF4B-6D732823A4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43"/>
          <a:stretch>
            <a:fillRect/>
          </a:stretch>
        </p:blipFill>
        <p:spPr>
          <a:xfrm>
            <a:off x="2776728" y="3598765"/>
            <a:ext cx="5983224" cy="30515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4 — MARKET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Where HoloMat Is Most Impactful — Domain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Five verticals where gesture + voice + hologram create measurable value.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🏥  Healthcare / Surgery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Sterile, hands-free control of medical imaging. Zero infection risk. Save 6–12 min per procedure.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9164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55080" y="17830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🏭  Industrial Manufacturing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14884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Touchless dashboards for gloved/hazmat workers. Real-time production metrics in hologram.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🛡️  Defense &amp; Military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65760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Heads-up, hands-free field data. Voice-primary design. Fully offline capable.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55080" y="329184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🎓  Education &amp; STEM Labs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365760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Students interact physically with 3D molecules, physics simulations. $150 build cost.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709160"/>
            <a:ext cx="5486400" cy="1325880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480060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♿  Accessibility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166360"/>
            <a:ext cx="521208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Users with motor impairments get three alternative inputs: voice, proximity, gesture.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4 — MARKET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13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How HoloMat Compares — No Direct 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The only system combining all 8 features at a fraction of the cost.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249424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Feature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6624" y="1691640"/>
            <a:ext cx="2249424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52344" y="17373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HoloMat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56048" y="1691640"/>
            <a:ext cx="2249424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001768" y="17373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MS HoloLens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5472" y="1691640"/>
            <a:ext cx="2249424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2" y="17373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Leap Motion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54896" y="1691640"/>
            <a:ext cx="2249424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500616" y="1737360"/>
            <a:ext cx="2157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Amazon Alexa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103120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213969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Gesture Control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06624" y="2103120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752344" y="213969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6048" y="2103120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01768" y="213969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05472" y="2103120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51192" y="213969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54896" y="2103120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500616" y="213969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450592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248716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Voice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06624" y="2450592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2344" y="248716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56048" y="2450592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01768" y="248716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Limited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05472" y="2450592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51192" y="248716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454896" y="2450592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0616" y="248716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2798064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283464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Holographic Display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06624" y="2798064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2752344" y="283464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56048" y="2798064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01768" y="283464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 (AR)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05472" y="2798064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51192" y="283464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454896" y="2798064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9500616" y="283464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145536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3182112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IoT Sensor Integration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06624" y="3145536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752344" y="3182112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956048" y="3145536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001768" y="3182112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05472" y="3145536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251192" y="3182112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54896" y="3145536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500616" y="3182112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Limited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3493008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02920" y="3529584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Face Recognition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06624" y="3493008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52344" y="3529584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56048" y="3493008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01768" y="3529584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05472" y="3493008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251192" y="3529584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454896" y="3493008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500616" y="3529584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3840480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387705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Open Source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706624" y="3840480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2752344" y="387705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956048" y="3840480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001768" y="387705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205472" y="3840480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251192" y="387705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454896" y="3840480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500616" y="3877056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4187952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02920" y="422452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Hardware Cost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706624" y="4187952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2752344" y="4224528"/>
            <a:ext cx="21579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FFFF"/>
                </a:solidFill>
              </a:rPr>
              <a:t>~$1</a:t>
            </a:r>
            <a:r>
              <a:rPr lang="en-US" sz="1000" b="0" i="0" dirty="0">
                <a:solidFill>
                  <a:srgbClr val="FFFFFF"/>
                </a:solidFill>
              </a:rPr>
              <a:t>00</a:t>
            </a:r>
            <a:endParaRPr sz="1000" b="0" i="0" dirty="0">
              <a:solidFill>
                <a:srgbClr val="FFFFFF"/>
              </a:solidFill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4956048" y="4187952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001768" y="422452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$3,500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205472" y="4187952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7251192" y="422452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$80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454896" y="4187952"/>
            <a:ext cx="2249424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9500616" y="4224528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$99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4535424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502920" y="457200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Offline Capable</a:t>
            </a:r>
          </a:p>
        </p:txBody>
      </p:sp>
      <p:sp>
        <p:nvSpPr>
          <p:cNvPr id="89" name="Rectangle 88"/>
          <p:cNvSpPr/>
          <p:nvPr/>
        </p:nvSpPr>
        <p:spPr>
          <a:xfrm>
            <a:off x="2706624" y="4535424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2752344" y="457200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956048" y="4535424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001768" y="457200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05472" y="4535424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7251192" y="457200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Yes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454896" y="4535424"/>
            <a:ext cx="2249424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TextBox 95"/>
          <p:cNvSpPr txBox="1"/>
          <p:nvPr/>
        </p:nvSpPr>
        <p:spPr>
          <a:xfrm>
            <a:off x="9500616" y="4572000"/>
            <a:ext cx="2157984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❌ No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5 — CURRENT 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14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What We Built vs. What We Designed — Honest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The software is production-ready. The hardware needs assembly time and ~₹17,400.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Module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Status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Frontend Dashboard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Full React UI, all modes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3D Hologram Viewer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Three.js interactive models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Backend API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FastAPI + WebSocket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AI Hand Tracking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MediaPipe 60 FPS gesture system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Jarvis Voice Assistant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196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Groq AI + voice commands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Analytics &amp; Export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Recharts + multi-format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100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100% Complete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Arduino Sensor Code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5196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All sensor sketches written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100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Code Complete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Face Recognition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5196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OpenCV architecture designed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0100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✅ Architecture Ready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Hardware Assembly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25196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Arduino + Pi physical wiring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955280" y="4882896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001000" y="491947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⚠️  Not Yet Assembled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50292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Hologram Projection Rig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0624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425196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Pepper's Ghost acrylic + projector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80" y="5230368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001000" y="526694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⚠️  Not Yet Built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57200" y="557784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02920" y="561441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LED + LCD Integration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06240" y="557784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251960" y="561441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Physical hardware connection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955280" y="557784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01000" y="561441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6B00"/>
                </a:solidFill>
              </a:rPr>
              <a:t>⚠️  Not Yet Connected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6 — TECHNICAL DEPTH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16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0D4FF"/>
                </a:solidFill>
              </a:rPr>
              <a:t>Performance Metrics — Built to Engineering Standards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AABBCC"/>
                </a:solidFill>
              </a:rPr>
              <a:t>Every target from the PDR was met or exceeded.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5196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PDR Target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1691640"/>
            <a:ext cx="3749040" cy="4114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01000" y="1737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E1A"/>
                </a:solidFill>
              </a:rPr>
              <a:t>Achieved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Gesture response 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6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&lt; 200ms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80" y="2103120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01000" y="213969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~16ms (60 FPS loop) 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292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3D rendering frame rate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25196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&gt; 30 FPS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80" y="2450592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01000" y="248716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60 FPS (Three.js WebGL) 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WebSocket data latency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&lt; 100ms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80" y="2798064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001000" y="283464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40–80ms ✅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Voice command accuracy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&gt; 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55280" y="3145536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01000" y="3182112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~95% (Web Speech API) ✅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System boot time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5196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&lt; 30s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955280" y="3493008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01000" y="3529584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3.8 seconds 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Continuous operation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0624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5196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&gt; 24 hours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955280" y="3840480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001000" y="3877056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Tested — stable ✅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Hand landmark tracking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20624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25196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21 points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80" y="4187952"/>
            <a:ext cx="3749040" cy="347472"/>
          </a:xfrm>
          <a:prstGeom prst="rect">
            <a:avLst/>
          </a:prstGeom>
          <a:solidFill>
            <a:srgbClr val="101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001000" y="422452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21 points @ 60fps ✅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292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FF"/>
                </a:solidFill>
              </a:rPr>
              <a:t>Camera conflict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0624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425196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Zero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955280" y="4535424"/>
            <a:ext cx="3749040" cy="347472"/>
          </a:xfrm>
          <a:prstGeom prst="rect">
            <a:avLst/>
          </a:prstGeom>
          <a:solidFill>
            <a:srgbClr val="12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001000" y="4572000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FF88"/>
                </a:solidFill>
              </a:rPr>
              <a:t>Fixed — sequential access ✅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8 —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22 /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D4FF"/>
                </a:solidFill>
              </a:rPr>
              <a:t>SECTION 8 —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D4FF"/>
                </a:solidFill>
              </a:rPr>
              <a:t>Why HoloMat Matters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2745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Built a fully functional AI-powered dashboard from scratch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Integrated real-time computer vision at 60 FPS (MediaPipe)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Created a voice-first AI assistant using Groq LLM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Designed a complete 10-module hardware system with production-ready code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Implemented 3D holographic visualization in-browser with Three.js</a:t>
            </a:r>
          </a:p>
          <a:p>
            <a:pPr>
              <a:spcBef>
                <a:spcPts val="200"/>
              </a:spcBef>
            </a:pPr>
            <a:r>
              <a:rPr sz="1300" b="1">
                <a:solidFill>
                  <a:srgbClr val="FFFFFF"/>
                </a:solidFill>
              </a:rPr>
              <a:t>✅  Architected a scalable IoT backend with multiprocessing on embedded hardware</a:t>
            </a:r>
          </a:p>
          <a:p>
            <a:pPr>
              <a:spcBef>
                <a:spcPts val="200"/>
              </a:spcBef>
            </a:pPr>
            <a:endParaRPr sz="1300" b="1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What limited us: Budget of ~$20 for hardware  |  8 weeks with class obligations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The architecture is sound. The code is production-ready. The tech is real.</a:t>
            </a: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What stands between this and a working product: hardware assembly + ~$200.</a:t>
            </a:r>
          </a:p>
          <a:p>
            <a:pPr>
              <a:spcBef>
                <a:spcPts val="200"/>
              </a:spcBef>
            </a:pPr>
            <a:endParaRPr sz="1300" b="0">
              <a:solidFill>
                <a:srgbClr val="FFFFFF"/>
              </a:solidFill>
            </a:endParaRPr>
          </a:p>
          <a:p>
            <a:pPr>
              <a:spcBef>
                <a:spcPts val="200"/>
              </a:spcBef>
            </a:pPr>
            <a:r>
              <a:rPr sz="1300" b="0">
                <a:solidFill>
                  <a:srgbClr val="FFFFFF"/>
                </a:solidFill>
              </a:rPr>
              <a:t>Give us the resources. We'll give you a working Tony Stark workstation.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692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D700"/>
                </a:solidFill>
              </a:rPr>
              <a:t>"Sometimes you gotta run before you can walk." — Tony Stark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1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E1F752-3583-70BD-343B-8DB6D71D0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D9BFA13-A3BF-BC00-B2CA-92A9527A0D05}"/>
              </a:ext>
            </a:extLst>
          </p:cNvPr>
          <p:cNvSpPr txBox="1"/>
          <p:nvPr/>
        </p:nvSpPr>
        <p:spPr>
          <a:xfrm>
            <a:off x="11430000" y="649224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</a:rPr>
              <a:t>2 / 22</a:t>
            </a:r>
          </a:p>
        </p:txBody>
      </p:sp>
    </p:spTree>
    <p:extLst>
      <p:ext uri="{BB962C8B-B14F-4D97-AF65-F5344CB8AC3E}">
        <p14:creationId xmlns:p14="http://schemas.microsoft.com/office/powerpoint/2010/main" val="146080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1916</Words>
  <Application>Microsoft Office PowerPoint</Application>
  <PresentationFormat>Custom</PresentationFormat>
  <Paragraphs>356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Adhi S</cp:lastModifiedBy>
  <cp:revision>2</cp:revision>
  <dcterms:created xsi:type="dcterms:W3CDTF">2013-01-27T09:14:16Z</dcterms:created>
  <dcterms:modified xsi:type="dcterms:W3CDTF">2026-04-16T20:49:26Z</dcterms:modified>
  <cp:category/>
</cp:coreProperties>
</file>